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Disclosure up front, once: this is a papal encyclical. It's a religious document, I'm not presenting it as one, and nothing I say depends on anyone sharing its premises.</a:t>
            </a:r>
          </a:p>
          <a:p/>
          <a:p>
            <a:r>
              <a:t>Then move straight on. Naming it defuses it; dancing around it makes it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BLUF slide. Three reasons it's worth the time: it's specific enough to disagree with; it addresses developers directly (§111 — every design choice reflects a vision of humanity); and our Standard is a set of answers while this is a source of questions.</a:t>
            </a:r>
          </a:p>
          <a:p/>
          <a:p>
            <a:r>
              <a:t>Land the bottom band: I want a decision on which proposal to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 of context. Encyclical = most authoritative teaching document. First one of this pope, essentially entirely on AI — a statement of priorities.</a:t>
            </a:r>
          </a:p>
          <a:p/>
          <a:p>
            <a:r>
              <a:t>The name is the argument: Leo XIII wrote the 1891 text on industrial capitalism. Same move, new machinery.</a:t>
            </a:r>
          </a:p>
          <a:p/>
          <a:p>
            <a:r>
              <a:t>Last biblical reference: Babel (centralised plan, concentrated power) vs rebuilding a city piece by piece (distributed, shared responsibility).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slide. Five ideas, each mapped to a goal in our Standard. Don't read the list — say 'five ideas, roughly two minutes each' and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'Tools aren't neutral' is not new here. The sharper conclusion is: ethical review cannot be a question about use. Asking 'is this being used well?' is already too late — the system arrived carrying commitments.</a:t>
            </a:r>
          </a:p>
          <a:p/>
          <a:p>
            <a:r>
              <a:t>Our Impact Assessment is organised around intended uses. That's a good structure; I'm not proposing we drop it. But nothing in it asks what conception of a person is embedded in the data and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verbs from §105. Walk the table left to right.</a:t>
            </a:r>
          </a:p>
          <a:p/>
          <a:p>
            <a:r>
              <a:t>Justify and monitor are institutional — we do them, and we do them well. Challenge and remedy belong to the person the decision was made about. A5 is oversight by the operator, not recourse for the subject.</a:t>
            </a:r>
          </a:p>
          <a:p/>
          <a:p>
            <a:r>
              <a:t>§103: exclusion cloaked in a veneer of neutrality is very hard to object to. Structural property, not 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Pause after reading the quote.</a:t>
            </a:r>
          </a:p>
          <a:p/>
          <a:p>
            <a:r>
              <a:t>This is a technical observation, not a sentimental one. A model trained on someone's history is a formal commitment to the proposition that they will remain who they were. Credit models, risk scores, recidivism tools, reputation systems — all encode it.</a:t>
            </a:r>
          </a:p>
          <a:p/>
          <a:p>
            <a:r>
              <a:t>We call it predictive validity. We have never had to defend it as a claim about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direct shot at how our industry talks about safety. Alignment quietly relocates a political question into an engineering one.</a:t>
            </a:r>
          </a:p>
          <a:p/>
          <a:p>
            <a:r>
              <a:t>'Invisible infrastructure' is the phrase to take away — when a value judgment ships inside a model, it stops looking like a judgment.</a:t>
            </a:r>
          </a:p>
          <a:p/>
          <a:p>
            <a:r>
              <a:t>Give ourselves genuine credit: publishing the Standard made our framework criticisable on purpose. The thinness is that the reasoning behind trade-offs never leaves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part I least expected, and the one real hole rather than a weak spot.</a:t>
            </a:r>
          </a:p>
          <a:p/>
          <a:p>
            <a:r>
              <a:t>Read the goals: every one is about what the system does downstream. None is about annotators, moderators, or extraction upstream.</a:t>
            </a:r>
          </a:p>
          <a:p/>
          <a:p>
            <a:r>
              <a:t>Pre-empt the objection: yes, these sit under supplier codes and sustainability reporting. That is the point — they're not in the responsible-AI review, so they're not in the responsible-AI conversation. I'm not proposing ORA own supplier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Closest to what we actually ship.</a:t>
            </a:r>
          </a:p>
          <a:p/>
          <a:p>
            <a:r>
              <a:t>The claim is falsifiable: productivity gain and agency loss can happen in the same deployment, and if you only instrument the first you never see the second.</a:t>
            </a:r>
          </a:p>
          <a:p/>
          <a:p>
            <a:r>
              <a:t>Ask the room to sit with it: acceptance rate goes up in both worlds. Dependency and delight produce nearly identical telemetry.</a:t>
            </a:r>
          </a:p>
          <a:p/>
          <a:p>
            <a:r>
              <a:t>§156 is the most operationalisable sentence in the document: verifiable measures, not intentions.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assessment slide. Don't read every row — point at the three GAP rows.</a:t>
            </a:r>
          </a:p>
          <a:p/>
          <a:p>
            <a:r>
              <a:t>Headline: one covered, two partial, three genuine gaps — from a framework built with no visibility into our process. That convergence is itself evidence our Standard is well-founded.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that makes this a working session. All four are additive to artifacts that already exist — no new process, no new review body.</a:t>
            </a:r>
          </a:p>
          <a:p/>
          <a:p>
            <a:r>
              <a:t>Close on the band: if we cannot name the metric in proposal 04, that is itself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move — do not cut this. An audience that sees I'm not selling the document will engage with the substance.</a:t>
            </a:r>
          </a:p>
          <a:p/>
          <a:p>
            <a:r>
              <a:t>The honest gap: it calls for slowing down without saying who bears the cost in a competitive market, and it doesn't engage the game theory. That gap is where ORA actually operates.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quote slowly, then land the three short lines.</a:t>
            </a:r>
          </a:p>
          <a:p/>
          <a:p>
            <a:r>
              <a:t>Our systems are built out of features. Features are functions. The work is keeping a face behind every function we ship.</a:t>
            </a:r>
          </a:p>
          <a:p/>
          <a:p>
            <a:r>
              <a:t>Then hand over: 'I'd rather spend the next fifteen minutes arguing about the four proposals than answering questions about the document. Where do you think I'm wrong?'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question 1 or 2 — both are concrete and get engineers talking.</a:t>
            </a:r>
          </a:p>
          <a:p/>
          <a:p>
            <a:r>
              <a:t>Prepared answers for likely pushback are in speaker-script.md: why a religious document; isn't this what we already do; the pace argument is unrealistic; supply chain is someone else's remit; do you agree with it; what about the transhumanism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only. Use if someone challenges a quotation or wants the exact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7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B08D42"/>
                </a:solidFill>
                <a:latin typeface="Segoe UI Semibold"/>
              </a:rPr>
              <a:t>RESPONSIBLE AI  ·  EXTERNAL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Segoe UI Light"/>
              </a:rPr>
              <a:t>What an outside framework
sees in our AI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41648"/>
            <a:ext cx="1371600" cy="27432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70832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 Semibold"/>
              </a:rPr>
              <a:t>Magnifica Humanitas — Leo XIV, 15 May 2026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8A94A6"/>
                </a:solidFill>
                <a:latin typeface="Segoe UI"/>
              </a:rPr>
              <a:t>Four gaps it exposes in the Microsoft Responsible AI Standard, and four additive fixes.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Gustavo Pabón  ·  30 minutes: 15 present, 15 discuss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95728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60">
                <a:solidFill>
                  <a:srgbClr val="B08D42"/>
                </a:solidFill>
                <a:latin typeface="Segoe UI Semibold"/>
              </a:rPr>
              <a:t>AT A GLANCE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 Semibold"/>
              </a:rPr>
              <a:t>The source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First encyclical of Leo XIV.
Entirely on AI and digital power.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 Semibold"/>
              </a:rPr>
              <a:t>The posture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Normative stakeholder input —
not doctrine, not endorsement.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 Semibold"/>
              </a:rPr>
              <a:t>The value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Our Standard is a set of answers.
This is a source of questions.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Broad convergence — and four specific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935705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467"/>
                </a:solidFill>
                <a:latin typeface="Segoe UI"/>
              </a:rPr>
              <a:t>An external ethics framework, written without access to our process, independently arrives at most of our principles. Where it diverges is the useful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95728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95728"/>
            <a:ext cx="3246120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706624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2E7D5B"/>
                </a:solidFill>
                <a:latin typeface="Segoe UI Semibold"/>
              </a:rPr>
              <a:t>WHERE WE ALIGN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Dignity, fairness, transparency, human oversight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The document's judgment criteria map cleanly onto A1–A5, T1–T3 and F1–F3. External convergence is a signal our framework is well-founded.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395728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395728"/>
            <a:ext cx="3246120" cy="45720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706624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08D42"/>
                </a:solidFill>
                <a:latin typeface="Segoe UI Semibold"/>
              </a:rPr>
              <a:t>WHERE WE DIVERGE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Recourse · Design intent · Trade-offs · Production chain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Four claims land on parts of the lifecycle our goals do not currently reach — most of them upstream of, or downstream from, the system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2984" y="2395728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72984" y="2395728"/>
            <a:ext cx="3246120" cy="457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2706624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2E5AAC"/>
                </a:solidFill>
                <a:latin typeface="Segoe UI Semibold"/>
              </a:rPr>
              <a:t>WHAT I AM ASKING FOR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Four additive changes to artifacts we already produce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No new process, no new review body, no new committee. Four prompts and one metric added to templates that already exist.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001768"/>
            <a:ext cx="10454335" cy="658368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84648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Semibold"/>
              </a:rPr>
              <a:t>The decision I would like from this room:  which of the four is worth piloting on the next Sensitive Use review?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AI is to 2026 what the factory was to 1891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935705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467"/>
                </a:solidFill>
                <a:latin typeface="Segoe UI"/>
              </a:rPr>
              <a:t>The author took the name Leo after Leo XIII, whose 1891 text on industrial capitalism founded this tradition. The analogy is the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040380"/>
            <a:ext cx="7406640" cy="18288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971800"/>
            <a:ext cx="146304" cy="146304"/>
          </a:xfrm>
          <a:prstGeom prst="ellipse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75467"/>
                </a:solidFill>
                <a:latin typeface="Segoe UI Light"/>
              </a:rPr>
              <a:t>1891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C2E"/>
                </a:solidFill>
                <a:latin typeface="Segoe UI Semibold"/>
              </a:rPr>
              <a:t>Rerum Novarum · Leo XIII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The first industrial revolution.
Factory labour, wages, the right to organise.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2971800"/>
            <a:ext cx="146304" cy="146304"/>
          </a:xfrm>
          <a:prstGeom prst="ellipse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39572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Segoe UI Light"/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29184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C2E"/>
                </a:solidFill>
                <a:latin typeface="Segoe UI Semibold"/>
              </a:rPr>
              <a:t>Magnifica Humanitas · Leo XIV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AI and digital power.
Work, truth, freedom, concentration of 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304288"/>
            <a:ext cx="265176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2578608"/>
            <a:ext cx="2103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B08D42"/>
                </a:solidFill>
                <a:latin typeface="Segoe UI Semibold"/>
              </a:rPr>
              <a:t>HOW TO READ IT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 i="0">
                <a:solidFill>
                  <a:srgbClr val="0F1C2E"/>
                </a:solidFill>
                <a:latin typeface="Segoe UI"/>
              </a:rPr>
              <a:t>The same way we read NIST, the EU AI Act, or a civil-society critique: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— A stakeholder position with real reach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— Specific enough to disagree with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— It names AI developers directly (§111)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276088"/>
            <a:ext cx="10451592" cy="82296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5477256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08D42"/>
                </a:solidFill>
                <a:latin typeface="Segoe UI Semibold"/>
              </a:rPr>
              <a:t>Same move, new machinery.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In both cases the target is concentrated power over work and over what people are able to know.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B08D42"/>
                </a:solidFill>
                <a:latin typeface="Segoe UI Semibold"/>
              </a:rPr>
              <a:t>THE SUBSTANCE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egoe UI Light"/>
              </a:rPr>
              <a:t>Five ideas that
touch our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488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21305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Design intent, not just intended use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 spc="80">
                <a:solidFill>
                  <a:srgbClr val="8A94A6"/>
                </a:solidFill>
                <a:latin typeface="Segoe UI Semibold"/>
              </a:rPr>
              <a:t>§104  ·  A1 · A4 · F3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07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7889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Accountability means recourse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 spc="80">
                <a:solidFill>
                  <a:srgbClr val="8A94A6"/>
                </a:solidFill>
                <a:latin typeface="Segoe UI Semibold"/>
              </a:rPr>
              <a:t>§103, §105  ·  A5 · T1 · RS3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655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44728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Whose values? The limits of alignment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 spc="80">
                <a:solidFill>
                  <a:srgbClr val="8A94A6"/>
                </a:solidFill>
                <a:latin typeface="Segoe UI Semibold"/>
              </a:rPr>
              <a:t>§107  ·  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1239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10565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The production chain we never assess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 spc="80">
                <a:solidFill>
                  <a:srgbClr val="8A94A6"/>
                </a:solidFill>
                <a:latin typeface="Segoe UI Semibold"/>
              </a:rPr>
              <a:t>§101, §173  ·  no owning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823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Worker agency as a measured outcome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 spc="80">
                <a:solidFill>
                  <a:srgbClr val="8A94A6"/>
                </a:solidFill>
                <a:latin typeface="Segoe UI Semibold"/>
              </a:rPr>
              <a:t>§150, §156  ·  RS3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IDEA 1 · DESIGN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Asking only “is it used well?” arrives too 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6400800" cy="13990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54480"/>
            <a:ext cx="41148" cy="1399032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1792224"/>
            <a:ext cx="5715000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F1C2E"/>
                </a:solidFill>
                <a:latin typeface="Segoe UI Light"/>
              </a:rPr>
              <a:t>“We cannot consider AI to be morally neutral… every technical tool embodies choices and priorities through what it measures, ignores and optimizes.”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000" b="0" i="0" spc="80">
                <a:solidFill>
                  <a:srgbClr val="8A94A6"/>
                </a:solidFill>
                <a:latin typeface="Segoe UI Semibold"/>
              </a:rPr>
              <a:t>§104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B08D42"/>
                </a:solidFill>
                <a:latin typeface="Segoe UI Semibold"/>
              </a:rPr>
              <a:t>The sharper claim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0F1C2E"/>
                </a:solidFill>
                <a:latin typeface="Segoe UI"/>
              </a:rPr>
              <a:t>A system that excludes people “without the possibility of appeal” is not a neutral tool being misused. It is already defective — the commitment arrived with the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554480"/>
            <a:ext cx="350215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554480"/>
            <a:ext cx="3502152" cy="4572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01952"/>
            <a:ext cx="2880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4451F"/>
                </a:solidFill>
                <a:latin typeface="Segoe UI Semibold"/>
              </a:rPr>
              <a:t>WHAT THIS LANDS ON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0F1C2E"/>
                </a:solidFill>
                <a:latin typeface="Segoe UI Semibold"/>
              </a:rPr>
              <a:t>Our Impact Assessment is organised around intended uses.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A4 governs data. F3 governs stereotyping and demeaning outputs. Both detect defects against a standard.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0F1C2E"/>
                </a:solidFill>
                <a:latin typeface="Segoe UI"/>
              </a:rPr>
              <a:t>Neither asks the prior question: what conception of a person is embedded in this data and this model — and what did we decide a person is for?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43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00">
                <a:solidFill>
                  <a:srgbClr val="8A94A6"/>
                </a:solidFill>
                <a:latin typeface="Segoe UI Semibold"/>
              </a:rPr>
              <a:t>TOUCHES   A1 impact assessment   ·   A4 data governance   ·   F3 stereotyping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IDEA 2 · RECOURSE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Our accountability model covers two of the four verbs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935705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467"/>
                </a:solidFill>
                <a:latin typeface="Segoe UI"/>
              </a:rPr>
              <a:t>§105 defines accountability as the ability to identify who must account for a decision — and then to justify, monitor, challenge and remedy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VERB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5059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WHO HOLDS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5059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WHERE IT LIVES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4505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779776"/>
            <a:ext cx="9875520" cy="12801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Justify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990088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Held by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990088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T1 · System intelligibility for decision making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990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7D5B"/>
                </a:solidFill>
                <a:latin typeface="Segoe UI Semibold"/>
              </a:rPr>
              <a:t>COVERED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" y="3346704"/>
            <a:ext cx="10131552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655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46557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Held by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465576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RS3 · Ongoing monitoring, feedback,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4655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7D5B"/>
                </a:solidFill>
                <a:latin typeface="Segoe UI Semibold"/>
              </a:rPr>
              <a:t>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410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941064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Held by the affected person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41064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No goal in the Standard carries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941064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451F"/>
                </a:solidFill>
                <a:latin typeface="Segoe UI Semibold"/>
              </a:rPr>
              <a:t>GAP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" y="4297680"/>
            <a:ext cx="10131552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165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Remedy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41655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Held by the affected person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416552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No goal in the Standard carries this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44165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451F"/>
                </a:solidFill>
                <a:latin typeface="Segoe UI Semibold"/>
              </a:rPr>
              <a:t>GAP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065776"/>
            <a:ext cx="10451592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5065776"/>
            <a:ext cx="41148" cy="1051560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2728" y="5248656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C2E"/>
                </a:solidFill>
                <a:latin typeface="Segoe UI Semibold"/>
              </a:rPr>
              <a:t>A5 gives us human oversight and control — but that is oversight by the operator, not recourse for the subject.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§103: once exclusion is “cloaked in a veneer of neutrality and objectivity,” it becomes very hard to object to. That is a structural property, not a bug.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IDEA 2 · THE LINE WORTH SITTING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FFFFFF"/>
                </a:solidFill>
                <a:latin typeface="Segoe UI Light"/>
              </a:rPr>
              <a:t>Automated decision systems do not know “compassion, mercy, forgiveness, and above all, the hope that people are able to change.”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44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A94A6"/>
                </a:solidFill>
                <a:latin typeface="Segoe UI Semibold"/>
              </a:rPr>
              <a:t>§102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611880"/>
            <a:ext cx="1371600" cy="27432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9692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08D42"/>
                </a:solidFill>
                <a:latin typeface="Segoe UI Semibold"/>
              </a:rPr>
              <a:t>This is a technical observation, not a sentimental one.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 Light"/>
              </a:rPr>
              <a:t>A model trained on a person's history is a formal commitment to the proposition that they will remain who they were. Every credit model, risk score, recidivism tool and trust-and-safety reputation system encodes that claim.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We call it predictive validity. We have never had to defend it as a claim about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IDEA 3 · TRADE-OFF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We publish conclusions, not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6400800" cy="11704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54480"/>
            <a:ext cx="41148" cy="1170432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1792224"/>
            <a:ext cx="5715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F1C2E"/>
                </a:solidFill>
                <a:latin typeface="Segoe UI Light"/>
              </a:rPr>
              <a:t>“A more moral AI is not enough if that morality is determined by a few.”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000" b="0" i="0" spc="80">
                <a:solidFill>
                  <a:srgbClr val="8A94A6"/>
                </a:solidFill>
                <a:latin typeface="Segoe UI Semibold"/>
              </a:rPr>
              <a:t>§107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B08D42"/>
                </a:solidFill>
                <a:latin typeface="Segoe UI Semibold"/>
              </a:rPr>
              <a:t>The argument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Alignment is necessary but insufficient on its own, because it quietly relocates a political question into an engineering one. The requirement is not “have better values” — it is that the ethical frameworks themselves stay openly discussable, outside the firms that set them.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“Invisible infrastructure” is the phrase to take away: when a value judgment ships inside a model, it stops looking like a judgment and becomes the way the thing 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554480"/>
            <a:ext cx="3502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554480"/>
            <a:ext cx="3502152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865376"/>
            <a:ext cx="29535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2E7D5B"/>
                </a:solidFill>
                <a:latin typeface="Segoe UI Semibold"/>
              </a:rPr>
              <a:t>WHERE WE ARE AHEAD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We published the Standard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We made our own framework criticisable, on purpose. Transparency Notes do the same at system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3337560"/>
            <a:ext cx="35021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337560"/>
            <a:ext cx="3502152" cy="45720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3648456"/>
            <a:ext cx="29535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08D42"/>
                </a:solidFill>
                <a:latin typeface="Segoe UI Semibold"/>
              </a:rPr>
              <a:t>WHERE WE ARE THIN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The reasoning never leaves the building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When safety is traded against utility, or one group's quality of service against another's, we publish the resolution — never the alternatives we rejected or the values we ranked.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436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§106 adds the institutional half: abstract ethics is not enough — it requires “robust legal frameworks, independent oversight, informed users.” Note “independent.”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IDEA 4 · THE PRODUCTION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Our goals describe the system, never how it was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507492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54480"/>
            <a:ext cx="5074920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883664"/>
            <a:ext cx="4434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2E7D5B"/>
                </a:solidFill>
                <a:latin typeface="Segoe UI Semibold"/>
              </a:rPr>
              <a:t>DOWNSTREAM — FULLY GOVERNED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What the system does to users and stakeholders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A1–A5   accountability
T1–T3   transparency
F1–F3   fairness
RS1–RS3   reliability &amp; safety
PS1–PS2 · I1   privacy, security, accessibility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07492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074920" cy="4572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883664"/>
            <a:ext cx="4434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4451F"/>
                </a:solidFill>
                <a:latin typeface="Segoe UI Semibold"/>
              </a:rPr>
              <a:t>UPSTREAM — ABSENT FROM RAI REVIEW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The conditions under which it was produced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Data labeling and model training
Content moderation of disturbing material
Mineral and rare-earth extraction
Energy, water and carbon at model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526280"/>
            <a:ext cx="10451592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526280"/>
            <a:ext cx="41148" cy="1371600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64024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F1C2E"/>
                </a:solidFill>
                <a:latin typeface="Segoe UI Light"/>
              </a:rPr>
              <a:t>“Nothing in the world of AI is immaterial or magical.”  §173</a:t>
            </a: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These issues do sit under other governance — supplier codes, sustainability reporting. That is exactly the point: they are not in the responsible-AI review, so they are not in the responsible-AI conversation. No single artifact tells the full human-impact story of a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IDEA 5 · WORKER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Dependency and delight produce identical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10451592" cy="11704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54480"/>
            <a:ext cx="41148" cy="1170432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1792224"/>
            <a:ext cx="976579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F1C2E"/>
                </a:solidFill>
                <a:latin typeface="Segoe UI Light"/>
              </a:rPr>
              <a:t>“AI frequently forces workers to adapt to the speed and demands of machines, rather than machines being designed to support those who work.”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000" b="0" i="0" spc="80">
                <a:solidFill>
                  <a:srgbClr val="8A94A6"/>
                </a:solidFill>
                <a:latin typeface="Segoe UI Semibold"/>
              </a:rPr>
              <a:t>§150 — named effects: de-skilling · automated surveillance · eroded agency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063240"/>
            <a:ext cx="32461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063240"/>
            <a:ext cx="3246120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374136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A94A6"/>
                </a:solidFill>
                <a:latin typeface="Segoe UI Semibold"/>
              </a:rPr>
              <a:t>WHAT WE MEASURE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Acceptance · completion · time saved · retention · CSAT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Every one of these rises in a world where the tool makes people more capable.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3063240"/>
            <a:ext cx="32461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3063240"/>
            <a:ext cx="3246120" cy="4572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374136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4451F"/>
                </a:solidFill>
                <a:latin typeface="Segoe UI Semibold"/>
              </a:rPr>
              <a:t>THE BLIND SPOT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They also rise where it makes people dependent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A product can make users measurably more productive and measurably less capable. Our instrumentation cannot tell the two apart.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72984" y="3063240"/>
            <a:ext cx="32461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2984" y="3063240"/>
            <a:ext cx="3246120" cy="457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374136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2E5AAC"/>
                </a:solidFill>
                <a:latin typeface="Segoe UI Semibold"/>
              </a:rPr>
              <a:t>THE STANDARD OFFERED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“Verifiable measures” — §156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Every introduction of automation should carry checkable measures for employment, retraining and participation. Intentions do not 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Convergence is broad; the gaps are narrow and 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10378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CLAIM IN THE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6093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REF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9344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COVERAGE IN THE RAI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9" y="16093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938528"/>
            <a:ext cx="10378439" cy="12801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C2E"/>
                </a:solidFill>
                <a:latin typeface="Segoe UI"/>
              </a:rPr>
              <a:t>Human control of consequential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 Semibold"/>
              </a:rPr>
              <a:t>§200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36118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A5 · human oversight and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9" y="214884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7D5B"/>
                </a:solidFill>
                <a:latin typeface="Segoe UI Semibold"/>
              </a:rPr>
              <a:t>COVERED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" y="2532888"/>
            <a:ext cx="10634471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65176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C2E"/>
                </a:solidFill>
                <a:latin typeface="Segoe UI"/>
              </a:rPr>
              <a:t>Design intent — the vision of the person in data and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6517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 Semibold"/>
              </a:rPr>
              <a:t>§104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36118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A1 · A4 · 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79" y="265176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15468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C2E"/>
                </a:solidFill>
                <a:latin typeface="Segoe UI"/>
              </a:rPr>
              <a:t>Values contestable from outside the 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154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 Semibold"/>
              </a:rPr>
              <a:t>§107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54680"/>
            <a:ext cx="36118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Published Standard · 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79" y="31546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PARTIAL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" y="3538728"/>
            <a:ext cx="10634471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65760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C2E"/>
                </a:solidFill>
                <a:latin typeface="Segoe UI"/>
              </a:rPr>
              <a:t>Contest and remedy by the affected person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65760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 Semibold"/>
              </a:rPr>
              <a:t>§103 · §105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57600"/>
            <a:ext cx="36118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A5 covers the operator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79" y="365760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451F"/>
                </a:solidFill>
                <a:latin typeface="Segoe UI Semibold"/>
              </a:rPr>
              <a:t>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16052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C2E"/>
                </a:solidFill>
                <a:latin typeface="Segoe UI"/>
              </a:rPr>
              <a:t>Labour and environmental conditions of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605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 Semibold"/>
              </a:rPr>
              <a:t>§101 · §173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160520"/>
            <a:ext cx="36118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No owning 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79" y="416052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451F"/>
                </a:solidFill>
                <a:latin typeface="Segoe UI Semibold"/>
              </a:rPr>
              <a:t>GAP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" y="4544568"/>
            <a:ext cx="10634471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66344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C2E"/>
                </a:solidFill>
                <a:latin typeface="Segoe UI"/>
              </a:rPr>
              <a:t>Worker agency as a measured outcome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6634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 Semibold"/>
              </a:rPr>
              <a:t>§150 · §156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663440"/>
            <a:ext cx="36118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Segoe UI"/>
              </a:rPr>
              <a:t>RS3 measures performance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79" y="466344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451F"/>
                </a:solidFill>
                <a:latin typeface="Segoe UI Semibold"/>
              </a:rPr>
              <a:t>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 Semibold"/>
              </a:rPr>
              <a:t>One covered, two partial, three genuine gaps — from a framework built with no visibility into our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Four additive changes to artifacts we already 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935705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467"/>
                </a:solidFill>
                <a:latin typeface="Segoe UI"/>
              </a:rPr>
              <a:t>No new process. No new review body. Four prompts and one metric, added to templates that exist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30552"/>
            <a:ext cx="24871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130552"/>
            <a:ext cx="2487168" cy="457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41448"/>
            <a:ext cx="193852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E5AAC"/>
                </a:solidFill>
                <a:latin typeface="Segoe UI Light"/>
              </a:rPr>
              <a:t>01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0F1C2E"/>
                </a:solidFill>
                <a:latin typeface="Segoe UI Semibold"/>
              </a:rPr>
              <a:t>Add a design-intent prompt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“What does this system treat a person as, and what does it optimise them toward?” Asked once, at the 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41655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A94A6"/>
                </a:solidFill>
                <a:latin typeface="Segoe UI Semibold"/>
              </a:rPr>
              <a:t>IMPACT ASSESSMENT TEMPLATE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100">
                <a:solidFill>
                  <a:srgbClr val="2E5AAC"/>
                </a:solidFill>
                <a:latin typeface="Segoe UI Semibold"/>
              </a:rPr>
              <a:t>LOW EFFORT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0732" y="2130552"/>
            <a:ext cx="24871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0732" y="2130552"/>
            <a:ext cx="2487168" cy="457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5052" y="2441448"/>
            <a:ext cx="193852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E5AAC"/>
                </a:solidFill>
                <a:latin typeface="Segoe UI Light"/>
              </a:rPr>
              <a:t>02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0F1C2E"/>
                </a:solidFill>
                <a:latin typeface="Segoe UI Semibold"/>
              </a:rPr>
              <a:t>Make recourse first-class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For any consequential decision: who can contest it, through what path, in what time, with what remedy.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5052" y="441655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A94A6"/>
                </a:solidFill>
                <a:latin typeface="Segoe UI Semibold"/>
              </a:rPr>
              <a:t>GOAL A5 · IMPACT ASSESSMENT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100">
                <a:solidFill>
                  <a:srgbClr val="2E5AAC"/>
                </a:solidFill>
                <a:latin typeface="Segoe UI Semibold"/>
              </a:rPr>
              <a:t>MEDIUM EFFORT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130552"/>
            <a:ext cx="24871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2130552"/>
            <a:ext cx="2487168" cy="457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441448"/>
            <a:ext cx="193852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E5AAC"/>
                </a:solidFill>
                <a:latin typeface="Segoe UI Light"/>
              </a:rPr>
              <a:t>03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0F1C2E"/>
                </a:solidFill>
                <a:latin typeface="Segoe UI Semibold"/>
              </a:rPr>
              <a:t>Publish trade-offs, not just outcomes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A short “decisions and trade-offs” section: what we gave up, what we rejected, how we ranked the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41655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A94A6"/>
                </a:solidFill>
                <a:latin typeface="Segoe UI Semibold"/>
              </a:rPr>
              <a:t>TRANSPARENCY NOTE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100">
                <a:solidFill>
                  <a:srgbClr val="2E5AAC"/>
                </a:solidFill>
                <a:latin typeface="Segoe UI Semibold"/>
              </a:rPr>
              <a:t>LOW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4836" y="2130552"/>
            <a:ext cx="24871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4836" y="2130552"/>
            <a:ext cx="2487168" cy="457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9156" y="2441448"/>
            <a:ext cx="193852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E5AAC"/>
                </a:solidFill>
                <a:latin typeface="Segoe UI Light"/>
              </a:rPr>
              <a:t>04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0F1C2E"/>
                </a:solidFill>
                <a:latin typeface="Segoe UI Semibold"/>
              </a:rPr>
              <a:t>One agency metric per assistive deployment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A single metric that would fall if the tool were making people dependent rather than capable.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9156" y="441655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A94A6"/>
                </a:solidFill>
                <a:latin typeface="Segoe UI Semibold"/>
              </a:rPr>
              <a:t>RS3 MONITORING PLAN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100">
                <a:solidFill>
                  <a:srgbClr val="2E5AAC"/>
                </a:solidFill>
                <a:latin typeface="Segoe UI Semibold"/>
              </a:rPr>
              <a:t>MEDIUM EFFORT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285232"/>
            <a:ext cx="10451592" cy="658368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46811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Semibold"/>
              </a:rPr>
              <a:t>If we cannot name the metric in proposal 04, that is itself the finding.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INTELLECTUAL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Where the document is weak — and where that leaves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82496"/>
            <a:ext cx="41148" cy="566928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645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It calls for slowing down without pricing it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§106 argues that prudence and “at times, a slower pace” is not opposition to progress. It never says who bears the cost of slowing in a competitive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42616"/>
            <a:ext cx="41148" cy="566928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0604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It gestures at international frameworks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It does not engage the game theory of what happens when the actors who ignore the advice simply win.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602736"/>
            <a:ext cx="41148" cy="566928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661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F1C2E"/>
                </a:solidFill>
                <a:latin typeface="Segoe UI Semibold"/>
              </a:rPr>
              <a:t>It is a risk document written in a moment of real benefit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The upside of these systems is acknowledged thinly. A balanced reading has to supply that side itself.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709160"/>
            <a:ext cx="10451592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9469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1C2E"/>
                </a:solidFill>
                <a:latin typeface="Segoe UI Semibold"/>
              </a:rPr>
              <a:t>The gap between a normative document and a working governance regime is precisely where ORA operates.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467"/>
                </a:solidFill>
                <a:latin typeface="Segoe UI"/>
              </a:rPr>
              <a:t>That gap is not a reason to dismiss the argument. It is the reason the argument needs 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FFFFFF"/>
                </a:solidFill>
                <a:latin typeface="Segoe UI Light"/>
              </a:rPr>
              <a:t>“The quality of a civilization is measured not by the power of its means, but by the care it is able to offer, by its ability to recognize the other as a face not merely as a function.”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A94A6"/>
                </a:solidFill>
                <a:latin typeface="Segoe UI Semibold"/>
              </a:rPr>
              <a:t>§114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434840"/>
            <a:ext cx="1371600" cy="27432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08D42"/>
                </a:solidFill>
                <a:latin typeface="Segoe UI Semibold"/>
              </a:rPr>
              <a:t>Our systems are built out of features. Features are functions.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The work is keeping a face behind every function we 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Fifteen minutes — I would rather argue about the proposals than the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Which of the four proposals is implementable in our current process, and which is a fantasy?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175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Can anyone name a metric we track today that would catch a product making users more productive and less capable?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87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06908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Our Impact Assessments are use-centric. Is there anywhere we ask the design-intent question — or am I looking in the wrong place?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84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Do we have a recourse story for any consequential automated decision we ship? Any one?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358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Is there a class of system where “a model of your past is a bet you won't change” should be disqualifying, not a known limitation?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87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8D42"/>
                </a:solidFill>
                <a:latin typeface="Segoe UI Semibold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6908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C2E"/>
                </a:solidFill>
                <a:latin typeface="Segoe UI"/>
              </a:rPr>
              <a:t>Is there an argument here that is simply wrong, and that we should say so about rather than absorb politely?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82296"/>
          </a:xfrm>
          <a:prstGeom prst="rect">
            <a:avLst/>
          </a:prstGeom>
          <a:solidFill>
            <a:srgbClr val="B08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45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60">
                <a:solidFill>
                  <a:srgbClr val="B08D42"/>
                </a:solidFill>
                <a:latin typeface="Segoe UI Semibold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1800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F1C2E"/>
                </a:solidFill>
                <a:latin typeface="Segoe UI Light"/>
              </a:rPr>
              <a:t>Source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104543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spc="60">
                <a:solidFill>
                  <a:srgbClr val="8A94A6"/>
                </a:solidFill>
                <a:latin typeface="Segoe UI"/>
              </a:rPr>
              <a:t>Magnifica Humanitas ·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8A94A6"/>
                </a:solidFill>
                <a:latin typeface="Segoe UI Semibol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60934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8A94A6"/>
                </a:solidFill>
                <a:latin typeface="Segoe UI Semibold"/>
              </a:rPr>
              <a:t>QUOTATION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938528"/>
            <a:ext cx="10424160" cy="12801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214884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Ease of answers “can encourage excessive reliance… and weaken personal creativity and judgment.”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" y="2350008"/>
            <a:ext cx="10680192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6888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46888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Automated systems do not know “compassion, mercy, forgiveness, and above all, the hope that people are able to change.”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8892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78892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Exclusion “cloaked in a veneer of neutrality and objectivity, against which it becomes difficult to raise objections.”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" y="2990088"/>
            <a:ext cx="10680192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10896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310896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“We cannot consider AI to be morally neutral… every technical tool embodies choices and priorities.”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42900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Accountability: identify who must account, “justify them, monitor them, and, when necessary, challenge them and remedy any harm caused.”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" y="3630168"/>
            <a:ext cx="10680192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4904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374904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Prudence and “at times, a slower pace” is not opposition to progress; requires “robust legal frameworks, independent oversight.”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06908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406908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“A more moral AI is not enough if that morality is determined by a few.”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" y="4270248"/>
            <a:ext cx="10680192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38912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438912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“Every design choice reflects a vision of humanity” — direct appeal to developers.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0916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470916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AI “frequently forces workers to adapt to the speed and demands of machines.”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" y="4910328"/>
            <a:ext cx="10680192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02920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502920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Every introduction of automation needs “verifiable measures” for employment, retraining, participation.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34924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§173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20" y="534924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“Nothing in the world of AI is immaterial or magical” — invisible labour and extraction.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" y="5550408"/>
            <a:ext cx="10680192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66928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8D42"/>
                </a:solidFill>
                <a:latin typeface="Segoe UI Semibold"/>
              </a:rPr>
              <a:t>§200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20" y="5669280"/>
            <a:ext cx="9281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467"/>
                </a:solidFill>
                <a:latin typeface="Segoe UI"/>
              </a:rPr>
              <a:t>Lethal force “cannot be delegated to opaque or automated processes” — effective human control.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60350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Leo XIV, Magnifica Humanitas, 15 May 2026 · vatican.va   |   Microsoft Responsible AI Standard v2, June 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